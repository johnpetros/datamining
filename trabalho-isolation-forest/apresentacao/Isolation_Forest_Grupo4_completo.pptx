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Integrantes preservados conforme o PPT fornecido. A data histórica da apresentação original era 25/09/2026.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 primária: https://repository.cern/records/4pbhe-e1w97. AUC-ROC &gt; 0,95 é relatada para os três modelos no conjunto de avaliação da tese.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T125 não ultrapassou o limiar apesar da razão de preço baixa. T126 pode exigir atributos adicionais. As interpretações não são explicações causais emitidas pelo algoritmo.</a:t>
            </a:r>
          </a:p>
          <a:p>
            <a:r>
              <a:t>Avaliação quantitativa: cinco anomalias observáveis T121–T125 (4 TP, 3 FP, 1 FN, 118 TN; recall 80%). T126 é uma compra indevida com atributos usuais e recebe análise qualitativa separada. O modelo e os sete alertas permanecem os mesmos.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Isolation Forest: https://doi.org/10.1109/ICDM.2008.17</a:t>
            </a:r>
          </a:p>
          <a:p>
            <a:r>
              <a:t>Isolation-Based Anomaly Detection: https://doi.org/10.1145/2133360.2133363</a:t>
            </a:r>
          </a:p>
          <a:p>
            <a:r>
              <a:t>IsolationForest: API oficial: https://scikit-learn.org/stable/modules/generated/sklearn.ensemble.IsolationForest.html</a:t>
            </a:r>
          </a:p>
          <a:p>
            <a:r>
              <a:t>CERN OpenStack: estudo de caso: https://repository.cern/records/4pbhe-e1w97</a:t>
            </a:r>
          </a:p>
          <a:p>
            <a:r>
              <a:t>Extended Isolation Forest: https://arxiv.org/abs/1811.02141</a:t>
            </a:r>
          </a:p>
          <a:p>
            <a:r>
              <a:t>Deep Isolation Forest: https://arxiv.org/abs/2206.06602</a:t>
            </a:r>
          </a:p>
          <a:p>
            <a:r>
              <a:t>Histórico oficial: https://scikit-learn.org/0.18/whats_new.html</a:t>
            </a:r>
          </a:p>
          <a:p>
            <a:r>
              <a:t>Consultadas em 01/10/2026.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base é sintética, e as métricas não medem generalização. Próximos passos: dados reais, avaliação temporal, estabilidade e revisão dos alertas.</a:t>
            </a:r>
          </a:p>
          <a:p>
            <a:r>
              <a:t>Avaliação quantitativa: cinco anomalias observáveis T121–T125 (4 TP, 3 FP, 1 FN, 118 TN; recall 80%). T126 é uma compra indevida com atributos usuais e recebe análise qualitativa separada. O modelo e os sete alertas permanecem os mesmos.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Avaliação quantitativa: cinco anomalias observáveis T121–T125 (4 TP, 3 FP, 1 FN, 118 TN; recall 80%). T126 é uma compra indevida com atributos usuais e recebe análise qualitativa separada. O modelo e os sete alertas permanecem os mesmos.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Avaliação quantitativa: cinco anomalias observáveis T121–T125 (4 TP, 3 FP, 1 FN, 118 TN; recall 80%). T126 é uma compra indevida com atributos usuais e recebe análise qualitativa separada. O modelo e os sete alertas permanecem os mesmos.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109/ICDM.2008.17" TargetMode="External"/><Relationship Id="rId3" Type="http://schemas.openxmlformats.org/officeDocument/2006/relationships/hyperlink" Target="https://doi.org/10.1145/2133360.2133363" TargetMode="External"/><Relationship Id="rId4" Type="http://schemas.openxmlformats.org/officeDocument/2006/relationships/hyperlink" Target="https://scikit-learn.org/stable/modules/generated/sklearn.ensemble.IsolationForest.html" TargetMode="External"/><Relationship Id="rId5" Type="http://schemas.openxmlformats.org/officeDocument/2006/relationships/hyperlink" Target="https://repository.cern/records/4pbhe-e1w97" TargetMode="External"/><Relationship Id="rId6" Type="http://schemas.openxmlformats.org/officeDocument/2006/relationships/hyperlink" Target="https://arxiv.org/abs/1811.02141" TargetMode="External"/><Relationship Id="rId7" Type="http://schemas.openxmlformats.org/officeDocument/2006/relationships/hyperlink" Target="https://arxiv.org/abs/2206.06602" TargetMode="External"/><Relationship Id="rId8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495299"/>
            <a:ext cx="685800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7DDBB1"/>
                </a:solidFill>
                <a:latin typeface="Arial"/>
              </a:rPr>
              <a:t>MINERAÇÃO DE DADOS  /  DETECÇÃO DE ANOMALIAS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1638300"/>
            <a:ext cx="7010400" cy="182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652"/>
              </a:lnSpc>
              <a:spcBef>
                <a:spcPts val="0"/>
              </a:spcBef>
              <a:spcAft>
                <a:spcPts val="0"/>
              </a:spcAft>
            </a:pPr>
            <a:r>
              <a:rPr sz="6720" b="1">
                <a:solidFill>
                  <a:srgbClr val="F5F4EF"/>
                </a:solidFill>
                <a:latin typeface="Arial"/>
              </a:rPr>
              <a:t>Isolation</a:t>
            </a:r>
          </a:p>
          <a:p>
            <a:pPr>
              <a:lnSpc>
                <a:spcPts val="6652"/>
              </a:lnSpc>
              <a:spcBef>
                <a:spcPts val="0"/>
              </a:spcBef>
              <a:spcAft>
                <a:spcPts val="0"/>
              </a:spcAft>
            </a:pPr>
            <a:r>
              <a:rPr sz="6720" b="1">
                <a:solidFill>
                  <a:srgbClr val="F5F4EF"/>
                </a:solidFill>
                <a:latin typeface="Arial"/>
              </a:rPr>
              <a:t>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6280" y="3642360"/>
            <a:ext cx="60198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7BCBE"/>
                </a:solidFill>
                <a:latin typeface="Arial"/>
              </a:rPr>
              <a:t>Pontos incomuns.</a:t>
            </a:r>
          </a:p>
          <a:p>
            <a:pPr>
              <a:lnSpc>
                <a:spcPts val="2855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A7BCBE"/>
                </a:solidFill>
                <a:latin typeface="Arial"/>
              </a:rPr>
              <a:t>Caminhos mais curtos.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92980"/>
            <a:ext cx="1676400" cy="350520"/>
          </a:xfrm>
          <a:prstGeom prst="roundRect">
            <a:avLst>
              <a:gd name="adj" fmla="val 50000"/>
            </a:avLst>
          </a:prstGeom>
          <a:solidFill>
            <a:srgbClr val="254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6780" y="4876800"/>
            <a:ext cx="1371600" cy="220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7DDBB1"/>
                </a:solidFill>
                <a:latin typeface="Arial"/>
              </a:rPr>
              <a:t>TEORIA + PYTHON</a:t>
            </a:r>
          </a:p>
        </p:txBody>
      </p:sp>
      <p:sp>
        <p:nvSpPr>
          <p:cNvPr id="7" name="Oval 6"/>
          <p:cNvSpPr/>
          <p:nvPr/>
        </p:nvSpPr>
        <p:spPr>
          <a:xfrm>
            <a:off x="8481060" y="253746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08720" y="304800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36380" y="355854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64040" y="406908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91700" y="267462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19360" y="318516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47020" y="369570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41080" y="420624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8740" y="281178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96400" y="332232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24060" y="383286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51720" y="434340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79380" y="294894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0" y="345948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01100" y="397002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28760" y="257556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56420" y="308610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80" y="359664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11740" y="4107179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39400" y="271272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33460" y="322326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0" y="3733799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288780" y="424434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16440" y="284988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44100" y="336042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71760" y="387096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99420" y="438150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93480" y="298704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21140" y="349758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48800" y="400812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76460" y="261366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20" y="312420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431780" y="363474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25840" y="4145280"/>
            <a:ext cx="106680" cy="106680"/>
          </a:xfrm>
          <a:prstGeom prst="ellipse">
            <a:avLst/>
          </a:prstGeom>
          <a:solidFill>
            <a:srgbClr val="4F8D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7985759" y="1645920"/>
            <a:ext cx="0" cy="3505200"/>
          </a:xfrm>
          <a:prstGeom prst="line">
            <a:avLst/>
          </a:prstGeom>
          <a:ln w="15240">
            <a:solidFill>
              <a:srgbClr val="638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719060" y="2125980"/>
            <a:ext cx="3329940" cy="0"/>
          </a:xfrm>
          <a:prstGeom prst="line">
            <a:avLst/>
          </a:prstGeom>
          <a:ln w="15240">
            <a:solidFill>
              <a:srgbClr val="638A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8290560" y="1577340"/>
            <a:ext cx="213360" cy="213360"/>
          </a:xfrm>
          <a:prstGeom prst="ellipse">
            <a:avLst/>
          </a:prstGeom>
          <a:solidFill>
            <a:srgbClr val="D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1219200"/>
            <a:ext cx="27432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DE683E"/>
                </a:solidFill>
                <a:latin typeface="Arial"/>
              </a:rPr>
              <a:t>FÁCIL DE ISOLAR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560" y="5791200"/>
            <a:ext cx="10668000" cy="472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BCBE"/>
                </a:solidFill>
                <a:latin typeface="Arial"/>
              </a:rPr>
              <a:t>Thiago Martins · Gabriel da Silva · Kauan Fonseca</a:t>
            </a:r>
          </a:p>
          <a:p>
            <a:pPr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BCBE"/>
                </a:solidFill>
                <a:latin typeface="Arial"/>
              </a:rPr>
              <a:t>João Pedro Carvalho · João Gabriel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31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A7BCBE"/>
                </a:solidFill>
                <a:latin typeface="Arial"/>
              </a:rPr>
              <a:t>GRUPO 4  /  APRESENTAÇÃO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A7BCBE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ROTEIRO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Do problema à investigação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516380"/>
            <a:ext cx="1059180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Uma técnica simples exige preparação dos dados e interpretação do contexto.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" y="2286000"/>
            <a:ext cx="3489960" cy="165354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53640"/>
            <a:ext cx="7620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2872740"/>
            <a:ext cx="30861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O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3329940"/>
            <a:ext cx="306324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O que torna uma compra</a:t>
            </a:r>
          </a:p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incomum?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1020" y="2286000"/>
            <a:ext cx="3489960" cy="165354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3900" y="2453640"/>
            <a:ext cx="7620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2872740"/>
            <a:ext cx="30861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A técnica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3900" y="3329940"/>
            <a:ext cx="306324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Definição, motivação e histórico.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1480" y="2286000"/>
            <a:ext cx="3489960" cy="165354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4359" y="2453640"/>
            <a:ext cx="7620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59" y="2872740"/>
            <a:ext cx="30861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O mecanismo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59" y="3329940"/>
            <a:ext cx="306324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Cortes aleatórios e pontuação.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560" y="4152900"/>
            <a:ext cx="3489960" cy="165354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" y="4320540"/>
            <a:ext cx="7620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40" y="4739640"/>
            <a:ext cx="30861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Na prática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440" y="5196840"/>
            <a:ext cx="306324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Aplicações, limites e caso CERN.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1020" y="4152900"/>
            <a:ext cx="3489960" cy="165354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3900" y="4320540"/>
            <a:ext cx="7620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3900" y="4739640"/>
            <a:ext cx="30861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Nosso estudo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3900" y="5196840"/>
            <a:ext cx="306324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CSV, Python, gráficos e</a:t>
            </a:r>
          </a:p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resultados.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1480" y="4152900"/>
            <a:ext cx="3489960" cy="1653540"/>
          </a:xfrm>
          <a:prstGeom prst="roundRect">
            <a:avLst>
              <a:gd name="adj" fmla="val 73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4359" y="4320540"/>
            <a:ext cx="762000" cy="3124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4359" y="4739640"/>
            <a:ext cx="30861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O aprendizado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4359" y="5196840"/>
            <a:ext cx="306324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O que detectar — e o que</a:t>
            </a:r>
          </a:p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investigar.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PROBLEMA ESTUDADO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Raro não significa errado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516380"/>
            <a:ext cx="1059180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Uma observação incomum pode ser fraude, erro ou uma compra legítima.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" y="2286000"/>
            <a:ext cx="3489960" cy="2324100"/>
          </a:xfrm>
          <a:prstGeom prst="roundRect">
            <a:avLst>
              <a:gd name="adj" fmla="val 590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3920" y="2461260"/>
            <a:ext cx="30632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06D68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" y="2926080"/>
            <a:ext cx="3063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Poucos exemplos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920" y="3680460"/>
            <a:ext cx="3063240" cy="746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Nem sempre há rótulos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confiáveis.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1020" y="2286000"/>
            <a:ext cx="3489960" cy="2324100"/>
          </a:xfrm>
          <a:prstGeom prst="roundRect">
            <a:avLst>
              <a:gd name="adj" fmla="val 590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4380" y="2461260"/>
            <a:ext cx="30632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06D68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4380" y="2926080"/>
            <a:ext cx="3063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Múltiplos atributos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4380" y="3680460"/>
            <a:ext cx="3063240" cy="746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O desvio pode aparecer apenas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na combinação.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1480" y="2286000"/>
            <a:ext cx="3489960" cy="2324100"/>
          </a:xfrm>
          <a:prstGeom prst="roundRect">
            <a:avLst>
              <a:gd name="adj" fmla="val 590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2461260"/>
            <a:ext cx="30632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06D68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2926080"/>
            <a:ext cx="3063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Contexto importa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840" y="3680460"/>
            <a:ext cx="3063240" cy="746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O alerta inicia a investigação;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não comprova fraude.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560" y="4953000"/>
            <a:ext cx="10850880" cy="967740"/>
          </a:xfrm>
          <a:prstGeom prst="roundRect">
            <a:avLst>
              <a:gd name="adj" fmla="val 14173"/>
            </a:avLst>
          </a:prstGeom>
          <a:solidFill>
            <a:srgbClr val="11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780" y="5120640"/>
            <a:ext cx="27432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7DDBB1"/>
                </a:solidFill>
                <a:latin typeface="Arial"/>
              </a:rPr>
              <a:t>EXEMPLO DA LOJA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5120640"/>
            <a:ext cx="752094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F5F4EF"/>
                </a:solidFill>
                <a:latin typeface="Arial"/>
              </a:rPr>
              <a:t>R$ 1.100 pode ser comum em eletrônicos.</a:t>
            </a:r>
          </a:p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F5F4EF"/>
                </a:solidFill>
                <a:latin typeface="Arial"/>
              </a:rPr>
              <a:t>Por um item de papelaria, exige atenção.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DEFINIÇÃO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A pergunta é: quão fácil é isolar?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752600"/>
            <a:ext cx="9448800" cy="83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112B37"/>
                </a:solidFill>
                <a:latin typeface="Arial"/>
              </a:rPr>
              <a:t>Isolation Forest é um algoritmo não supervisionado de detecção de</a:t>
            </a:r>
          </a:p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280" b="0">
                <a:solidFill>
                  <a:srgbClr val="112B37"/>
                </a:solidFill>
                <a:latin typeface="Arial"/>
              </a:rPr>
              <a:t>anomalias baseado em árvores aleatórias.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" y="3101340"/>
            <a:ext cx="3489960" cy="273558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3920" y="3276600"/>
            <a:ext cx="30632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06D68"/>
                </a:solidFill>
                <a:latin typeface="Arial"/>
              </a:rPr>
              <a:t>SEM RÓTULOS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920" y="3741420"/>
            <a:ext cx="3063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Não supervisionado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920" y="4495800"/>
            <a:ext cx="3063240" cy="1158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Não exige exemplos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confirmados de fraude ou falha.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1020" y="3101340"/>
            <a:ext cx="3489960" cy="273558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4380" y="3276600"/>
            <a:ext cx="30632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06D68"/>
                </a:solidFill>
                <a:latin typeface="Arial"/>
              </a:rPr>
              <a:t>SEM DISTÂNCIAS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4380" y="3741420"/>
            <a:ext cx="3063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Cortes aleatórios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4380" y="4495800"/>
            <a:ext cx="3063240" cy="1158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Particiona os dados até separar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observações.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1480" y="3101340"/>
            <a:ext cx="3489960" cy="2735580"/>
          </a:xfrm>
          <a:prstGeom prst="roundRect">
            <a:avLst>
              <a:gd name="adj" fmla="val 50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4840" y="3276600"/>
            <a:ext cx="306324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06D68"/>
                </a:solidFill>
                <a:latin typeface="Arial"/>
              </a:rPr>
              <a:t>COM PONTUAÇÃO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4840" y="3741420"/>
            <a:ext cx="30632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Grau de raridade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4840" y="4495800"/>
            <a:ext cx="3063240" cy="1158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Mede o comprimento médio dos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caminhos na floresta.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Isolar o raro pode exigir menos esforço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1981199"/>
            <a:ext cx="5181600" cy="32004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80760" y="1981199"/>
            <a:ext cx="5440680" cy="3200400"/>
          </a:xfrm>
          <a:prstGeom prst="roundRect">
            <a:avLst>
              <a:gd name="adj" fmla="val 4285"/>
            </a:avLst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25040"/>
            <a:ext cx="4648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112B37"/>
                </a:solidFill>
                <a:latin typeface="Arial"/>
              </a:rPr>
              <a:t>Modelar o comum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72740"/>
            <a:ext cx="4572000" cy="1661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597078"/>
                </a:solidFill>
                <a:latin typeface="Arial"/>
              </a:rPr>
              <a:t>Métodos estatísticos, de distância ou</a:t>
            </a:r>
          </a:p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597078"/>
                </a:solidFill>
                <a:latin typeface="Arial"/>
              </a:rPr>
              <a:t>densidade procuram desvios do padrão.</a:t>
            </a:r>
          </a:p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597078"/>
                </a:solidFill>
                <a:latin typeface="Arial"/>
              </a:rPr>
              <a:t>O custo depende da técnica e da</a:t>
            </a:r>
          </a:p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597078"/>
                </a:solidFill>
                <a:latin typeface="Arial"/>
              </a:rPr>
              <a:t>implementação.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9840" y="2225040"/>
            <a:ext cx="4892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F5F4EF"/>
                </a:solidFill>
                <a:latin typeface="Arial"/>
              </a:rPr>
              <a:t>Isolar o incomum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9840" y="2872740"/>
            <a:ext cx="4846320" cy="1661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F5F4EF"/>
                </a:solidFill>
                <a:latin typeface="Arial"/>
              </a:rPr>
              <a:t>Pontos raros e diferentes tendem a se</a:t>
            </a:r>
          </a:p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F5F4EF"/>
                </a:solidFill>
                <a:latin typeface="Arial"/>
              </a:rPr>
              <a:t>separar em poucos cortes.</a:t>
            </a:r>
          </a:p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F5F4EF"/>
                </a:solidFill>
                <a:latin typeface="Arial"/>
              </a:rPr>
              <a:t>Pequenas subamostras tornam o treino</a:t>
            </a:r>
          </a:p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F5F4EF"/>
                </a:solidFill>
                <a:latin typeface="Arial"/>
              </a:rPr>
              <a:t>eficiente.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55920"/>
            <a:ext cx="105918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Com árvores e subamostra fixas, o custo cresce aproximadamente com o tamanho da base.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7100" y="6530340"/>
            <a:ext cx="7391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078"/>
                </a:solidFill>
                <a:latin typeface="Arial"/>
              </a:rPr>
              <a:t>Liu, Ting e Zhou · 2008 e 2012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HISTÓRICO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De artigo acadêmico a ferramenta cotidiana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926080"/>
            <a:ext cx="10363200" cy="0"/>
          </a:xfrm>
          <a:prstGeom prst="line">
            <a:avLst/>
          </a:prstGeom>
          <a:ln w="30480">
            <a:solidFill>
              <a:srgbClr val="006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0560" y="2148840"/>
            <a:ext cx="24536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12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006D68"/>
                </a:solidFill>
                <a:latin typeface="Arial"/>
              </a:rPr>
              <a:t>2008</a:t>
            </a:r>
          </a:p>
        </p:txBody>
      </p:sp>
      <p:sp>
        <p:nvSpPr>
          <p:cNvPr id="6" name="Oval 5"/>
          <p:cNvSpPr/>
          <p:nvPr/>
        </p:nvSpPr>
        <p:spPr>
          <a:xfrm>
            <a:off x="723900" y="2849880"/>
            <a:ext cx="152400" cy="152400"/>
          </a:xfrm>
          <a:prstGeom prst="ellipse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60" y="3284220"/>
            <a:ext cx="24765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Proposta original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" y="4107179"/>
            <a:ext cx="2468880" cy="1295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97078"/>
                </a:solidFill>
                <a:latin typeface="Arial"/>
              </a:rPr>
              <a:t>Liu, Ting e Zhou</a:t>
            </a:r>
          </a:p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97078"/>
                </a:solidFill>
                <a:latin typeface="Arial"/>
              </a:rPr>
              <a:t>apresentam Isolation</a:t>
            </a:r>
          </a:p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97078"/>
                </a:solidFill>
                <a:latin typeface="Arial"/>
              </a:rPr>
              <a:t>Forest na ICDM.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1860" y="2148840"/>
            <a:ext cx="24536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12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006D68"/>
                </a:solidFill>
                <a:latin typeface="Arial"/>
              </a:rPr>
              <a:t>2012</a:t>
            </a:r>
          </a:p>
        </p:txBody>
      </p:sp>
      <p:sp>
        <p:nvSpPr>
          <p:cNvPr id="10" name="Oval 9"/>
          <p:cNvSpPr/>
          <p:nvPr/>
        </p:nvSpPr>
        <p:spPr>
          <a:xfrm>
            <a:off x="3505200" y="2849880"/>
            <a:ext cx="152400" cy="152400"/>
          </a:xfrm>
          <a:prstGeom prst="ellipse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1860" y="3284220"/>
            <a:ext cx="24765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Análise ampliada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1860" y="4107179"/>
            <a:ext cx="2468880" cy="1295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97078"/>
                </a:solidFill>
                <a:latin typeface="Arial"/>
              </a:rPr>
              <a:t>Artigo no ACM TKDD</a:t>
            </a:r>
          </a:p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97078"/>
                </a:solidFill>
                <a:latin typeface="Arial"/>
              </a:rPr>
              <a:t>consolida o método e os</a:t>
            </a:r>
          </a:p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97078"/>
                </a:solidFill>
                <a:latin typeface="Arial"/>
              </a:rPr>
              <a:t>experimentos.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160" y="2148840"/>
            <a:ext cx="24536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12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006D68"/>
                </a:solidFill>
                <a:latin typeface="Arial"/>
              </a:rPr>
              <a:t>2016</a:t>
            </a:r>
          </a:p>
        </p:txBody>
      </p:sp>
      <p:sp>
        <p:nvSpPr>
          <p:cNvPr id="14" name="Oval 13"/>
          <p:cNvSpPr/>
          <p:nvPr/>
        </p:nvSpPr>
        <p:spPr>
          <a:xfrm>
            <a:off x="6286500" y="2849880"/>
            <a:ext cx="152400" cy="152400"/>
          </a:xfrm>
          <a:prstGeom prst="ellipse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3160" y="3284220"/>
            <a:ext cx="24765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160" y="4107179"/>
            <a:ext cx="2468880" cy="1295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97078"/>
                </a:solidFill>
                <a:latin typeface="Arial"/>
              </a:rPr>
              <a:t>IsolationForest entra na</a:t>
            </a:r>
          </a:p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97078"/>
                </a:solidFill>
                <a:latin typeface="Arial"/>
              </a:rPr>
              <a:t>versão 0.18 da biblioteca.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4460" y="2148840"/>
            <a:ext cx="245364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12"/>
              </a:lnSpc>
              <a:spcBef>
                <a:spcPts val="0"/>
              </a:spcBef>
              <a:spcAft>
                <a:spcPts val="0"/>
              </a:spcAft>
            </a:pPr>
            <a:r>
              <a:rPr sz="3960" b="1">
                <a:solidFill>
                  <a:srgbClr val="006D68"/>
                </a:solidFill>
                <a:latin typeface="Arial"/>
              </a:rPr>
              <a:t>2018+</a:t>
            </a:r>
          </a:p>
        </p:txBody>
      </p:sp>
      <p:sp>
        <p:nvSpPr>
          <p:cNvPr id="18" name="Oval 17"/>
          <p:cNvSpPr/>
          <p:nvPr/>
        </p:nvSpPr>
        <p:spPr>
          <a:xfrm>
            <a:off x="9067800" y="2849880"/>
            <a:ext cx="152400" cy="152400"/>
          </a:xfrm>
          <a:prstGeom prst="ellipse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4460" y="3284220"/>
            <a:ext cx="24765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Novas variantes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4460" y="4107179"/>
            <a:ext cx="2468880" cy="1295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97078"/>
                </a:solidFill>
                <a:latin typeface="Arial"/>
              </a:rPr>
              <a:t>Extended Isolation Forest</a:t>
            </a:r>
          </a:p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97078"/>
                </a:solidFill>
                <a:latin typeface="Arial"/>
              </a:rPr>
              <a:t>amplia as direções dos</a:t>
            </a:r>
          </a:p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597078"/>
                </a:solidFill>
                <a:latin typeface="Arial"/>
              </a:rPr>
              <a:t>cortes.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7100" y="6530340"/>
            <a:ext cx="7391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078"/>
                </a:solidFill>
                <a:latin typeface="Arial"/>
              </a:rPr>
              <a:t>Artigos originais · scikit-learn 0.18 · Hariri, Kind e Brunner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DBB1"/>
                </a:solidFill>
                <a:latin typeface="Arial"/>
              </a:rPr>
              <a:t>FUNCIONAMENTO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F5F4EF"/>
                </a:solidFill>
                <a:latin typeface="Arial"/>
              </a:rPr>
              <a:t>Menos cortes. Maior suspeita.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516380"/>
            <a:ext cx="1059180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A7BCBE"/>
                </a:solidFill>
                <a:latin typeface="Arial"/>
              </a:rPr>
              <a:t>Ilustração conceitual: uma árvore separa pontos por cortes aleatórios.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" y="2286000"/>
            <a:ext cx="5463540" cy="3299460"/>
          </a:xfrm>
          <a:prstGeom prst="roundRect">
            <a:avLst>
              <a:gd name="adj" fmla="val 4157"/>
            </a:avLst>
          </a:prstGeom>
          <a:solidFill>
            <a:srgbClr val="1C3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75460" y="326136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357378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339340" y="388620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621280" y="419862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03220" y="451104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85160" y="482346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67100" y="347472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49039" y="378714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30980" y="409956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12920" y="441198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89760" y="472440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71700" y="337566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53640" y="368808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735580" y="400050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17520" y="431292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99460" y="462534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81400" y="327660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63339" y="358902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45280" y="390144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27220" y="421386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04060" y="452628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86000" y="483870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67940" y="348996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849880" y="380238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31820" y="411480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13760" y="442722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695700" y="473964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77639" y="339090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59580" y="370332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836420" y="401574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18360" y="4328160"/>
            <a:ext cx="106680" cy="106680"/>
          </a:xfrm>
          <a:prstGeom prst="ellipse">
            <a:avLst/>
          </a:prstGeom>
          <a:solidFill>
            <a:srgbClr val="76B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89220" y="2651760"/>
            <a:ext cx="213360" cy="213360"/>
          </a:xfrm>
          <a:prstGeom prst="ellipse">
            <a:avLst/>
          </a:prstGeom>
          <a:solidFill>
            <a:srgbClr val="D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4724400" y="2522220"/>
            <a:ext cx="0" cy="2842260"/>
          </a:xfrm>
          <a:prstGeom prst="line">
            <a:avLst/>
          </a:prstGeom>
          <a:ln w="22859">
            <a:solidFill>
              <a:srgbClr val="E8C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3440" y="4495800"/>
            <a:ext cx="3840480" cy="0"/>
          </a:xfrm>
          <a:prstGeom prst="line">
            <a:avLst/>
          </a:prstGeom>
          <a:ln w="15240">
            <a:solidFill>
              <a:srgbClr val="66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67000" y="2552700"/>
            <a:ext cx="0" cy="1920240"/>
          </a:xfrm>
          <a:prstGeom prst="line">
            <a:avLst/>
          </a:prstGeom>
          <a:ln w="15240">
            <a:solidFill>
              <a:srgbClr val="668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937760" y="3025140"/>
            <a:ext cx="929640" cy="4648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E683E"/>
                </a:solidFill>
                <a:latin typeface="Arial"/>
              </a:rPr>
              <a:t>POUCOS</a:t>
            </a:r>
          </a:p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E683E"/>
                </a:solidFill>
                <a:latin typeface="Arial"/>
              </a:rPr>
              <a:t>CORTES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6540" y="2377440"/>
            <a:ext cx="579120" cy="403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7DDBB1"/>
                </a:solidFill>
                <a:latin typeface="Arial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14259" y="2377440"/>
            <a:ext cx="385572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5F4EF"/>
                </a:solidFill>
                <a:latin typeface="Arial"/>
              </a:rPr>
              <a:t>Subamostra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14259" y="2758440"/>
            <a:ext cx="38176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A7BCBE"/>
                </a:solidFill>
                <a:latin typeface="Arial"/>
              </a:rPr>
              <a:t>Seleciona registros para uma árvore.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6540" y="3398520"/>
            <a:ext cx="579120" cy="403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7DDBB1"/>
                </a:solidFill>
                <a:latin typeface="Arial"/>
              </a:rP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14259" y="3398520"/>
            <a:ext cx="385572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5F4EF"/>
                </a:solidFill>
                <a:latin typeface="Arial"/>
              </a:rPr>
              <a:t>Partição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14259" y="3779520"/>
            <a:ext cx="38176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A7BCBE"/>
                </a:solidFill>
                <a:latin typeface="Arial"/>
              </a:rPr>
              <a:t>Sorteia atributo e valor de corte.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6540" y="4419600"/>
            <a:ext cx="579120" cy="403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</a:pPr>
            <a:r>
              <a:rPr sz="2280" b="1">
                <a:solidFill>
                  <a:srgbClr val="7DDBB1"/>
                </a:solidFill>
                <a:latin typeface="Arial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14259" y="4419600"/>
            <a:ext cx="385572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F5F4EF"/>
                </a:solidFill>
                <a:latin typeface="Arial"/>
              </a:rPr>
              <a:t>Floresta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14259" y="4800600"/>
            <a:ext cx="38176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A7BCBE"/>
                </a:solidFill>
                <a:latin typeface="Arial"/>
              </a:rPr>
              <a:t>Repete e calcula o caminho médio.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560" y="5783580"/>
            <a:ext cx="107213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1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A7BCBE"/>
                </a:solidFill>
                <a:latin typeface="Arial"/>
              </a:rPr>
              <a:t>Na implementação, há limite de profundidade e correção para folhas com vários pontos.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31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A7BCBE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A7BCBE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PONTUAÇÃO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3"/>
              </a:lnSpc>
              <a:spcBef>
                <a:spcPts val="0"/>
              </a:spcBef>
              <a:spcAft>
                <a:spcPts val="0"/>
              </a:spcAft>
            </a:pPr>
            <a:r>
              <a:rPr sz="3660" b="1">
                <a:solidFill>
                  <a:srgbClr val="112B37"/>
                </a:solidFill>
                <a:latin typeface="Arial"/>
              </a:rPr>
              <a:t>A teoria e o código usam convenções diferentes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1988819"/>
            <a:ext cx="5181600" cy="3619500"/>
          </a:xfrm>
          <a:prstGeom prst="roundRect">
            <a:avLst>
              <a:gd name="adj" fmla="val 378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80760" y="1988819"/>
            <a:ext cx="5440680" cy="3619500"/>
          </a:xfrm>
          <a:prstGeom prst="roundRect">
            <a:avLst>
              <a:gd name="adj" fmla="val 3789"/>
            </a:avLst>
          </a:prstGeom>
          <a:solidFill>
            <a:srgbClr val="11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250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06D68"/>
                </a:solidFill>
                <a:latin typeface="Arial"/>
              </a:rPr>
              <a:t>NO ARTIGO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11780"/>
            <a:ext cx="4625340" cy="769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99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12B37"/>
                </a:solidFill>
                <a:latin typeface="Arial"/>
              </a:rPr>
              <a:t>s(x, n) = 2^(−E[h(x)] / c(n))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457200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E[h(x)]: comprimento médio do caminho.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c(n): normalização pela subamostra.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82540"/>
            <a:ext cx="4572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3"/>
              </a:lnSpc>
              <a:spcBef>
                <a:spcPts val="0"/>
              </a:spcBef>
              <a:spcAft>
                <a:spcPts val="0"/>
              </a:spcAft>
            </a:pPr>
            <a:r>
              <a:rPr sz="1859" b="1">
                <a:solidFill>
                  <a:srgbClr val="006D68"/>
                </a:solidFill>
                <a:latin typeface="Arial"/>
              </a:rPr>
              <a:t>Maior score → mais anômalo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9840" y="2225040"/>
            <a:ext cx="4876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7DDBB1"/>
                </a:solidFill>
                <a:latin typeface="Arial"/>
              </a:rPr>
              <a:t>NO SCIKIT-LEARN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9840" y="2811780"/>
            <a:ext cx="4899660" cy="1013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27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F5F4EF"/>
                </a:solidFill>
                <a:latin typeface="Arial"/>
              </a:rPr>
              <a:t>decision_function =</a:t>
            </a:r>
          </a:p>
          <a:p>
            <a:pPr>
              <a:lnSpc>
                <a:spcPts val="2427"/>
              </a:lnSpc>
              <a:spcBef>
                <a:spcPts val="0"/>
              </a:spcBef>
              <a:spcAft>
                <a:spcPts val="0"/>
              </a:spcAft>
            </a:pPr>
            <a:r>
              <a:rPr sz="2039" b="1">
                <a:solidFill>
                  <a:srgbClr val="F5F4EF"/>
                </a:solidFill>
                <a:latin typeface="Arial"/>
              </a:rPr>
              <a:t>score_samples − offset_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9840" y="4023360"/>
            <a:ext cx="478536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3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F5F4EF"/>
                </a:solidFill>
                <a:latin typeface="Arial"/>
              </a:rPr>
              <a:t>Score negativo → candidata</a:t>
            </a:r>
          </a:p>
          <a:p>
            <a:pPr>
              <a:lnSpc>
                <a:spcPts val="2213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F5F4EF"/>
                </a:solidFill>
                <a:latin typeface="Arial"/>
              </a:rPr>
              <a:t>Score ≥ 0 → não sinalizada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9840" y="5082540"/>
            <a:ext cx="48006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A7BCBE"/>
                </a:solidFill>
                <a:latin typeface="Arial"/>
              </a:rPr>
              <a:t>Score não é probabilidade de fraude.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7100" y="6530340"/>
            <a:ext cx="7391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078"/>
                </a:solidFill>
                <a:latin typeface="Arial"/>
              </a:rPr>
              <a:t>Liu et al. · documentação oficial do IsolationForest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Poucas linhas depois de preparar os dados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1920240"/>
            <a:ext cx="6652260" cy="4015740"/>
          </a:xfrm>
          <a:prstGeom prst="roundRect">
            <a:avLst>
              <a:gd name="adj" fmla="val 3415"/>
            </a:avLst>
          </a:prstGeom>
          <a:solidFill>
            <a:srgbClr val="11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6300" y="2095499"/>
            <a:ext cx="106680" cy="106680"/>
          </a:xfrm>
          <a:prstGeom prst="ellipse">
            <a:avLst/>
          </a:prstGeom>
          <a:solidFill>
            <a:srgbClr val="D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" y="2095499"/>
            <a:ext cx="106680" cy="106680"/>
          </a:xfrm>
          <a:prstGeom prst="ellipse">
            <a:avLst/>
          </a:prstGeom>
          <a:solidFill>
            <a:srgbClr val="E8C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72540" y="2095499"/>
            <a:ext cx="106680" cy="106680"/>
          </a:xfrm>
          <a:prstGeom prst="ellipse">
            <a:avLst/>
          </a:prstGeom>
          <a:solidFill>
            <a:srgbClr val="7DD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2020" y="2552700"/>
            <a:ext cx="6156960" cy="300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D7F0E9"/>
                </a:solidFill>
                <a:latin typeface="Liberation Mono"/>
              </a:rPr>
              <a:t>from sklearn.ensemble import IsolationForest</a:t>
            </a:r>
          </a:p>
          <a:p>
            <a:pPr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D7F0E9"/>
                </a:solidFill>
                <a:latin typeface="Liberation Mono"/>
              </a:rPr>
              <a:t/>
            </a:r>
          </a:p>
          <a:p>
            <a:pPr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D7F0E9"/>
                </a:solidFill>
                <a:latin typeface="Liberation Mono"/>
              </a:rPr>
              <a:t>modelo = IsolationForest(</a:t>
            </a:r>
          </a:p>
          <a:p>
            <a:pPr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D7F0E9"/>
                </a:solidFill>
                <a:latin typeface="Liberation Mono"/>
              </a:rPr>
              <a:t>n_estimators=100,</a:t>
            </a:r>
          </a:p>
          <a:p>
            <a:pPr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D7F0E9"/>
                </a:solidFill>
                <a:latin typeface="Liberation Mono"/>
              </a:rPr>
              <a:t>contamination=0.05,</a:t>
            </a:r>
          </a:p>
          <a:p>
            <a:pPr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D7F0E9"/>
                </a:solidFill>
                <a:latin typeface="Liberation Mono"/>
              </a:rPr>
              <a:t>random_state=42)</a:t>
            </a:r>
          </a:p>
          <a:p>
            <a:pPr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D7F0E9"/>
                </a:solidFill>
                <a:latin typeface="Liberation Mono"/>
              </a:rPr>
              <a:t/>
            </a:r>
          </a:p>
          <a:p>
            <a:pPr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D7F0E9"/>
                </a:solidFill>
                <a:latin typeface="Liberation Mono"/>
              </a:rPr>
              <a:t>modelo.fit(X)</a:t>
            </a:r>
          </a:p>
          <a:p>
            <a:pPr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D7F0E9"/>
                </a:solidFill>
                <a:latin typeface="Liberation Mono"/>
              </a:rPr>
              <a:t>df["score"] = modelo.decision_function(X)</a:t>
            </a:r>
          </a:p>
          <a:p>
            <a:pPr>
              <a:lnSpc>
                <a:spcPts val="2041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D7F0E9"/>
                </a:solidFill>
                <a:latin typeface="Liberation Mono"/>
              </a:rPr>
              <a:t>df["rotulo"] = modelo.predict(X)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1440" y="2034540"/>
            <a:ext cx="360426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27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6D68"/>
                </a:solidFill>
                <a:latin typeface="Arial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1440" y="2598420"/>
            <a:ext cx="360426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112B37"/>
                </a:solidFill>
                <a:latin typeface="Arial"/>
              </a:rPr>
              <a:t>Árvores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1440" y="2887980"/>
            <a:ext cx="3581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1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597078"/>
                </a:solidFill>
                <a:latin typeface="Arial"/>
              </a:rPr>
              <a:t>Mais árvores reduzem a variabilidade.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1440" y="3307080"/>
            <a:ext cx="360426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27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6D68"/>
                </a:solidFill>
                <a:latin typeface="Arial"/>
              </a:rPr>
              <a:t>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1440" y="3870960"/>
            <a:ext cx="360426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112B37"/>
                </a:solidFill>
                <a:latin typeface="Arial"/>
              </a:rPr>
              <a:t>Triagem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1440" y="4160520"/>
            <a:ext cx="3581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1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597078"/>
                </a:solidFill>
                <a:latin typeface="Arial"/>
              </a:rPr>
              <a:t>Fração definida antes da avaliação.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1440" y="4579620"/>
            <a:ext cx="360426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27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6D68"/>
                </a:solidFill>
                <a:latin typeface="Arial"/>
              </a:rPr>
              <a:t>−1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1440" y="5143500"/>
            <a:ext cx="360426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112B37"/>
                </a:solidFill>
                <a:latin typeface="Arial"/>
              </a:rPr>
              <a:t>Alerta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1440" y="5433060"/>
            <a:ext cx="358140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1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597078"/>
                </a:solidFill>
                <a:latin typeface="Arial"/>
              </a:rPr>
              <a:t>Rótulo de candidata a anomalia.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7100" y="6530340"/>
            <a:ext cx="7391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078"/>
                </a:solidFill>
                <a:latin typeface="Arial"/>
              </a:rPr>
              <a:t>X contém apenas atributos tratados; gabarito fora do modelo.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APLICAÇÕES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Uma técnica, vários contextos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516380"/>
            <a:ext cx="1059180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O ponto comum: encontrar observações que se afastam do comportamento usual.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" y="2232660"/>
            <a:ext cx="3489960" cy="1684020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" y="2415540"/>
            <a:ext cx="48006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06D68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" y="2819400"/>
            <a:ext cx="31242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Finanças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" y="3246120"/>
            <a:ext cx="313182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Transações incomuns para triagem</a:t>
            </a:r>
          </a:p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e revisão.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1020" y="2232660"/>
            <a:ext cx="3489960" cy="1684020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415540"/>
            <a:ext cx="48006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06D68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819400"/>
            <a:ext cx="31242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Segurança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246120"/>
            <a:ext cx="313182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Tráfego e acessos fora do padrão.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1480" y="2232660"/>
            <a:ext cx="3489960" cy="1684020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6740" y="2415540"/>
            <a:ext cx="48006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06D68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6740" y="2819400"/>
            <a:ext cx="31242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Indústria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6740" y="3246120"/>
            <a:ext cx="313182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Leituras atípicas de sensores e</a:t>
            </a:r>
          </a:p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equipamentos.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560" y="4114800"/>
            <a:ext cx="3489960" cy="1684020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" y="4297680"/>
            <a:ext cx="48006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06D68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" y="4701540"/>
            <a:ext cx="31242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Saúde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" y="5128260"/>
            <a:ext cx="313182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Exames ou registros que merecem</a:t>
            </a:r>
          </a:p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conferência.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1020" y="4114800"/>
            <a:ext cx="3489960" cy="1684020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297680"/>
            <a:ext cx="48006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06D68"/>
                </a:solidFill>
                <a:latin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701540"/>
            <a:ext cx="31242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Varejo e logística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128260"/>
            <a:ext cx="313182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Compras, atrasos e consumo</a:t>
            </a:r>
          </a:p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inesperados.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1480" y="4114800"/>
            <a:ext cx="3489960" cy="1684020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6740" y="4297680"/>
            <a:ext cx="480060" cy="289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06D68"/>
                </a:solidFill>
                <a:latin typeface="Arial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6740" y="4701540"/>
            <a:ext cx="3124200" cy="335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Qualidade de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6740" y="5128260"/>
            <a:ext cx="313182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Identificação de possíveis erros de</a:t>
            </a:r>
          </a:p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registro.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O alerta precisa de contexto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1973580"/>
            <a:ext cx="5311140" cy="1684020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56460"/>
            <a:ext cx="5334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DE683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56460"/>
            <a:ext cx="42443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Cortes alinhados aos eixos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811780"/>
            <a:ext cx="424434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Podem distorcer a pontuação em dados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correlacionados.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1973580"/>
            <a:ext cx="5311140" cy="1684020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8420" y="2156460"/>
            <a:ext cx="5334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DE683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0" y="2156460"/>
            <a:ext cx="42443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Anomalias locais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2811780"/>
            <a:ext cx="424434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Um caso incomum dentro de um grupo pode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passar despercebido.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0560" y="3863339"/>
            <a:ext cx="5311140" cy="1684020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46220"/>
            <a:ext cx="5334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DE683E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046220"/>
            <a:ext cx="42443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Preparação dos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701540"/>
            <a:ext cx="424434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Categorias exigem codificação; ausências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precisam de tratamento.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300" y="3863339"/>
            <a:ext cx="5311140" cy="1684020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8420" y="4046220"/>
            <a:ext cx="5334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DE683E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0" y="4046220"/>
            <a:ext cx="42443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Limiar e interpretação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0" y="4701540"/>
            <a:ext cx="424434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A fração de alertas afeta o trabalho de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investigação. O score não explica a causa.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7100" y="6530340"/>
            <a:ext cx="7391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078"/>
                </a:solidFill>
                <a:latin typeface="Arial"/>
              </a:rPr>
              <a:t>Fixar random_state torna esta execução reproduzível.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DDBB1"/>
                </a:solidFill>
                <a:latin typeface="Arial"/>
              </a:rPr>
              <a:t>CASO DOCUMENTADO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F5F4EF"/>
                </a:solidFill>
                <a:latin typeface="Arial"/>
              </a:rPr>
              <a:t>CERN: detectar servidores anômalos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516380"/>
            <a:ext cx="1059180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A7BCBE"/>
                </a:solidFill>
                <a:latin typeface="Arial"/>
              </a:rPr>
              <a:t>Uma aplicação operacional em infraestrutura de nuvem, descrita por Metaj (2022).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" y="2400300"/>
            <a:ext cx="5105400" cy="9905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211"/>
              </a:lnSpc>
              <a:spcBef>
                <a:spcPts val="0"/>
              </a:spcBef>
              <a:spcAft>
                <a:spcPts val="0"/>
              </a:spcAft>
            </a:pPr>
            <a:r>
              <a:rPr sz="6059" b="1">
                <a:solidFill>
                  <a:srgbClr val="7DDBB1"/>
                </a:solidFill>
                <a:latin typeface="Arial"/>
              </a:rPr>
              <a:t>~14 mil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" y="3398520"/>
            <a:ext cx="4953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3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A7BCBE"/>
                </a:solidFill>
                <a:latin typeface="Arial"/>
              </a:rPr>
              <a:t>máquinas virtuais no contexto do estudo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4488180"/>
            <a:ext cx="5006340" cy="1112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84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5F4EF"/>
                </a:solidFill>
                <a:latin typeface="Arial"/>
              </a:rPr>
              <a:t>AUC-ROC &gt; 0,95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" y="5097780"/>
            <a:ext cx="4991100" cy="7848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A7BCBE"/>
                </a:solidFill>
                <a:latin typeface="Arial"/>
              </a:rPr>
              <a:t>para cada um dos três modelos</a:t>
            </a:r>
          </a:p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A7BCBE"/>
                </a:solidFill>
                <a:latin typeface="Arial"/>
              </a:rPr>
              <a:t>na avaliação relatada pela tese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34100" y="2362200"/>
            <a:ext cx="0" cy="3566160"/>
          </a:xfrm>
          <a:prstGeom prst="line">
            <a:avLst/>
          </a:prstGeom>
          <a:ln w="15240">
            <a:solidFill>
              <a:srgbClr val="31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68440" y="2377440"/>
            <a:ext cx="4724400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99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F4EF"/>
                </a:solidFill>
                <a:latin typeface="Arial"/>
              </a:rPr>
              <a:t>Pipeline de monitoramento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8440" y="2987040"/>
            <a:ext cx="4724400" cy="952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7DDBB1"/>
                </a:solidFill>
                <a:latin typeface="Arial"/>
              </a:rPr>
              <a:t>Isolation Forest +</a:t>
            </a:r>
          </a:p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7DDBB1"/>
                </a:solidFill>
                <a:latin typeface="Arial"/>
              </a:rPr>
              <a:t>LSTM-AutoEncoder +</a:t>
            </a:r>
          </a:p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0">
                <a:solidFill>
                  <a:srgbClr val="7DDBB1"/>
                </a:solidFill>
                <a:latin typeface="Arial"/>
              </a:rPr>
              <a:t>GRU-AutoEncoder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8440" y="4290060"/>
            <a:ext cx="472440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3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F5F4EF"/>
                </a:solidFill>
                <a:latin typeface="Arial"/>
              </a:rPr>
              <a:t>Um ensemble prioriza diariamente os</a:t>
            </a:r>
          </a:p>
          <a:p>
            <a:pPr>
              <a:lnSpc>
                <a:spcPts val="2213"/>
              </a:lnSpc>
              <a:spcBef>
                <a:spcPts val="0"/>
              </a:spcBef>
              <a:spcAft>
                <a:spcPts val="0"/>
              </a:spcAft>
            </a:pPr>
            <a:r>
              <a:rPr sz="1859" b="0">
                <a:solidFill>
                  <a:srgbClr val="F5F4EF"/>
                </a:solidFill>
                <a:latin typeface="Arial"/>
              </a:rPr>
              <a:t>servidores mais incomuns para os gestores.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8440" y="5433060"/>
            <a:ext cx="4724400" cy="716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1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A7BCBE"/>
                </a:solidFill>
                <a:latin typeface="Arial"/>
              </a:rPr>
              <a:t>O resultado é específico do estudo; não garante</a:t>
            </a:r>
          </a:p>
          <a:p>
            <a:pPr>
              <a:lnSpc>
                <a:spcPts val="1713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A7BCBE"/>
                </a:solidFill>
                <a:latin typeface="Arial"/>
              </a:rPr>
              <a:t>desempenho na nossa base.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31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A7BCBE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A7BCBE"/>
                </a:solidFill>
                <a:latin typeface="Arial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7100" y="6530340"/>
            <a:ext cx="7391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7BCBE"/>
                </a:solidFill>
                <a:latin typeface="Arial"/>
              </a:rPr>
              <a:t>Metaj · CERN-THESIS-2022-049 · 2022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TENDÊNCIAS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Mais contexto para o isolamento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800100" cy="48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84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006D68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4500" y="1981199"/>
            <a:ext cx="3870960" cy="541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Extended e Deep 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18860" y="1981199"/>
            <a:ext cx="5257800" cy="708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Cortes em outras direções e novas representações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dos dados.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14500" y="2750820"/>
            <a:ext cx="979932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948940"/>
            <a:ext cx="800100" cy="48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84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006D68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4500" y="2964180"/>
            <a:ext cx="3870960" cy="541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Dados em fluxo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8860" y="2964180"/>
            <a:ext cx="5257800" cy="708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Adaptações para monitoramento e atualização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contínua.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14500" y="3733799"/>
            <a:ext cx="979932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3931920"/>
            <a:ext cx="800100" cy="48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84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006D68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4500" y="3947160"/>
            <a:ext cx="3870960" cy="541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Explicabilidade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8860" y="3947160"/>
            <a:ext cx="5257800" cy="708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Métodos de atribuição ajudam a examinar os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atributos do alerta.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14500" y="4716780"/>
            <a:ext cx="979932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4914900"/>
            <a:ext cx="800100" cy="48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84"/>
              </a:lnSpc>
              <a:spcBef>
                <a:spcPts val="0"/>
              </a:spcBef>
              <a:spcAft>
                <a:spcPts val="0"/>
              </a:spcAft>
            </a:pPr>
            <a:r>
              <a:rPr sz="2760" b="1">
                <a:solidFill>
                  <a:srgbClr val="006D68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4500" y="4930140"/>
            <a:ext cx="3870960" cy="541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6"/>
              </a:lnSpc>
              <a:spcBef>
                <a:spcPts val="0"/>
              </a:spcBef>
              <a:spcAft>
                <a:spcPts val="0"/>
              </a:spcAft>
            </a:pPr>
            <a:r>
              <a:rPr sz="1980" b="1">
                <a:solidFill>
                  <a:srgbClr val="112B37"/>
                </a:solidFill>
                <a:latin typeface="Arial"/>
              </a:rPr>
              <a:t>Sistemas híbridos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8860" y="4930140"/>
            <a:ext cx="5257800" cy="708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Combinação com outros modelos e etapas de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investigação.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7100" y="6530340"/>
            <a:ext cx="7391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078"/>
                </a:solidFill>
                <a:latin typeface="Arial"/>
              </a:rPr>
              <a:t>Hariri et al. · Extended IF | Xu et al. · Deep IF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NOSSO ESTUDO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Uma loja fictícia. Um problema realista.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1516380"/>
            <a:ext cx="10591800" cy="624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Transações de setembro de 2026; o gabarito é usado apenas na avaliação.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0560" y="2232660"/>
            <a:ext cx="3489960" cy="1097280"/>
          </a:xfrm>
          <a:prstGeom prst="roundRect">
            <a:avLst>
              <a:gd name="adj" fmla="val 11111"/>
            </a:avLst>
          </a:prstGeom>
          <a:solidFill>
            <a:srgbClr val="DF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362200"/>
            <a:ext cx="29718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41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06D68"/>
                </a:solidFill>
                <a:latin typeface="Arial"/>
              </a:rPr>
              <a:t>126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3002280"/>
            <a:ext cx="30327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TRANSAÇÕES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1020" y="2232660"/>
            <a:ext cx="3489960" cy="1097280"/>
          </a:xfrm>
          <a:prstGeom prst="roundRect">
            <a:avLst>
              <a:gd name="adj" fmla="val 11111"/>
            </a:avLst>
          </a:prstGeom>
          <a:solidFill>
            <a:srgbClr val="DF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900" y="2362200"/>
            <a:ext cx="29718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41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06D68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3900" y="3002280"/>
            <a:ext cx="30327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CASOS DOCUMENTADOS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1480" y="2232660"/>
            <a:ext cx="3489960" cy="1097280"/>
          </a:xfrm>
          <a:prstGeom prst="roundRect">
            <a:avLst>
              <a:gd name="adj" fmla="val 11111"/>
            </a:avLst>
          </a:prstGeom>
          <a:solidFill>
            <a:srgbClr val="DF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4359" y="2362200"/>
            <a:ext cx="29718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41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006D68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4359" y="3002280"/>
            <a:ext cx="30327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CÉLULAS AUSENTES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420" y="3657600"/>
            <a:ext cx="213360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2B37"/>
                </a:solidFill>
                <a:latin typeface="Arial"/>
              </a:rPr>
              <a:t>Identificação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6580" y="3657600"/>
            <a:ext cx="8183879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id_transacao · data_hora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0560" y="409956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3420" y="4274820"/>
            <a:ext cx="213360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2B37"/>
                </a:solidFill>
                <a:latin typeface="Arial"/>
              </a:rPr>
              <a:t>Numéricos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6580" y="4274820"/>
            <a:ext cx="8183879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valor · quantidade · desconto_percentual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0560" y="47167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3420" y="4892040"/>
            <a:ext cx="213360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2B37"/>
                </a:solidFill>
                <a:latin typeface="Arial"/>
              </a:rPr>
              <a:t>Categorias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16580" y="4892040"/>
            <a:ext cx="8183879" cy="35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597078"/>
                </a:solidFill>
                <a:latin typeface="Arial"/>
              </a:rPr>
              <a:t>categoria · pais · pagamento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0560" y="533400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0560" y="5692140"/>
            <a:ext cx="10744200" cy="48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06D68"/>
                </a:solidFill>
                <a:latin typeface="Arial"/>
              </a:rPr>
              <a:t>Casos plantados: 3 extremos + 2 combinações de preço e categoria + 1 indevida sem desvio observável.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PREPARAÇÃO E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O trabalho começa antes do 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026920"/>
            <a:ext cx="3489960" cy="1744980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40" y="2179320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590800"/>
            <a:ext cx="309372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Inspecionar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" y="3032760"/>
            <a:ext cx="3093720" cy="670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Tipos, ausências e estatísticas.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1020" y="2026920"/>
            <a:ext cx="3489960" cy="1744980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900" y="2179320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3900" y="2590800"/>
            <a:ext cx="309372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Tratar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3032760"/>
            <a:ext cx="3093720" cy="670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Mediana por categoria; moda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nos categóricos.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1480" y="2026920"/>
            <a:ext cx="3489960" cy="1744980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4359" y="2179320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4359" y="2590800"/>
            <a:ext cx="309372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Criar atributos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59" y="3032760"/>
            <a:ext cx="3093720" cy="670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Hora cíclica, preço por item e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razão por categoria.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60" y="3985260"/>
            <a:ext cx="3489960" cy="1744980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440" y="4137660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440" y="4549140"/>
            <a:ext cx="309372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Codificar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40" y="4991100"/>
            <a:ext cx="3093720" cy="670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One-hot encoding de categoria,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país e pagamento.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1020" y="3985260"/>
            <a:ext cx="3489960" cy="1744980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3900" y="4137660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3900" y="4549140"/>
            <a:ext cx="309372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Aplicar o modelo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3900" y="4991100"/>
            <a:ext cx="3093720" cy="670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100 árvores · 5% · semente 42.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31480" y="3985260"/>
            <a:ext cx="3489960" cy="1744980"/>
          </a:xfrm>
          <a:prstGeom prst="roundRect">
            <a:avLst>
              <a:gd name="adj" fmla="val 698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4359" y="4137660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4359" y="4549140"/>
            <a:ext cx="3093720" cy="350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Avaliar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4359" y="4991100"/>
            <a:ext cx="3093720" cy="670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Três gráficos e comparação com</a:t>
            </a:r>
          </a:p>
          <a:p>
            <a:pPr>
              <a:lnSpc>
                <a:spcPts val="1927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o gabarito.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7100" y="6530340"/>
            <a:ext cx="7391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078"/>
                </a:solidFill>
                <a:latin typeface="Arial"/>
              </a:rPr>
              <a:t>Nenhum rótulo de anomalia participa do ajuste.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3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12B37"/>
                </a:solidFill>
                <a:latin typeface="Arial"/>
              </a:rPr>
              <a:t>4 de 5 anomalias observáveis foram encontradas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104900" y="5152374"/>
            <a:ext cx="666750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8180" y="5076174"/>
            <a:ext cx="3886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7078"/>
                </a:solidFill>
                <a:latin typeface="Arial"/>
              </a:rPr>
              <a:t>30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04900" y="4635689"/>
            <a:ext cx="666750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8180" y="4559489"/>
            <a:ext cx="3886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7078"/>
                </a:solidFill>
                <a:latin typeface="Arial"/>
              </a:rPr>
              <a:t>100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04900" y="4164219"/>
            <a:ext cx="666750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8180" y="4088019"/>
            <a:ext cx="3886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7078"/>
                </a:solidFill>
                <a:latin typeface="Arial"/>
              </a:rPr>
              <a:t>300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04900" y="3647534"/>
            <a:ext cx="666750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8180" y="3571334"/>
            <a:ext cx="3886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7078"/>
                </a:solidFill>
                <a:latin typeface="Arial"/>
              </a:rPr>
              <a:t>1000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4900" y="3176065"/>
            <a:ext cx="666750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8180" y="3099865"/>
            <a:ext cx="3886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7078"/>
                </a:solidFill>
                <a:latin typeface="Arial"/>
              </a:rPr>
              <a:t>3000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04900" y="2659380"/>
            <a:ext cx="666750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8180" y="2583180"/>
            <a:ext cx="3886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1019" b="0">
                <a:solidFill>
                  <a:srgbClr val="597078"/>
                </a:solidFill>
                <a:latin typeface="Arial"/>
              </a:rPr>
              <a:t>10000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8908" y="5448300"/>
            <a:ext cx="38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7078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8112" y="5448300"/>
            <a:ext cx="38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7078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317" y="5448300"/>
            <a:ext cx="38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7078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6521" y="5448300"/>
            <a:ext cx="38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7078"/>
                </a:solidFill>
                <a:latin typeface="Arial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5726" y="5448300"/>
            <a:ext cx="38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7078"/>
                </a:solidFill>
                <a:latin typeface="Arial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4930" y="5448300"/>
            <a:ext cx="38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7078"/>
                </a:solidFill>
                <a:latin typeface="Arial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4135" y="5448300"/>
            <a:ext cx="381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7078"/>
                </a:solidFill>
                <a:latin typeface="Arial"/>
              </a:rPr>
              <a:t>21</a:t>
            </a:r>
          </a:p>
        </p:txBody>
      </p:sp>
      <p:sp>
        <p:nvSpPr>
          <p:cNvPr id="23" name="Oval 22"/>
          <p:cNvSpPr/>
          <p:nvPr/>
        </p:nvSpPr>
        <p:spPr>
          <a:xfrm>
            <a:off x="5317374" y="446216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11238" y="371303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98965" y="364641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05101" y="351130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95897" y="3691107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05101" y="3662098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17374" y="4687090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923510" y="396950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77488" y="4546501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711238" y="4037611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23510" y="404717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11238" y="464281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105101" y="3582297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105101" y="4608829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11238" y="4577499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105101" y="4240991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5783" y="4429718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23510" y="434301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498965" y="5083470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923510" y="4595157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105101" y="464141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17374" y="4857887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377488" y="3750979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711238" y="4012001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711238" y="4225727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711238" y="3963527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923510" y="472998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105101" y="390751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711238" y="394231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35783" y="5109348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105101" y="351887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105101" y="4346829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98965" y="5102867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35783" y="504341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317374" y="426220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923510" y="372730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105101" y="4182210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135783" y="406071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105101" y="457955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923510" y="441448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711238" y="4422930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711238" y="3655580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923510" y="466482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529647" y="428215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498965" y="3595161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17374" y="427372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529647" y="3938514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105101" y="3905448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180657" y="3754103"/>
            <a:ext cx="91440" cy="91440"/>
          </a:xfrm>
          <a:prstGeom prst="ellipse">
            <a:avLst/>
          </a:prstGeom>
          <a:solidFill>
            <a:srgbClr val="D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23510" y="353335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711238" y="405087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195897" y="3990908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105101" y="434732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711238" y="477752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711238" y="350580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529647" y="443644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135783" y="470756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908270" y="4336887"/>
            <a:ext cx="91440" cy="91440"/>
          </a:xfrm>
          <a:prstGeom prst="ellipse">
            <a:avLst/>
          </a:prstGeom>
          <a:solidFill>
            <a:srgbClr val="D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498965" y="3725810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923510" y="4146251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195897" y="4487170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529647" y="363902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498965" y="4006244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135783" y="3907749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135783" y="477630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317374" y="3605838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711238" y="354867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529647" y="360262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317374" y="508008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23510" y="4260587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195897" y="4599497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923510" y="3997689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498965" y="375050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498965" y="4012518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17374" y="470054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498965" y="5029579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317374" y="392463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5317374" y="4400327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711238" y="509032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317374" y="3923898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105101" y="464281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711238" y="412451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711238" y="402000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529647" y="434805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529647" y="3787104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105101" y="518695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529647" y="3982048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089861" y="4248725"/>
            <a:ext cx="91440" cy="91440"/>
          </a:xfrm>
          <a:prstGeom prst="ellipse">
            <a:avLst/>
          </a:prstGeom>
          <a:solidFill>
            <a:srgbClr val="D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923510" y="400879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498965" y="4647194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135783" y="354946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711238" y="3904860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498965" y="5118758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498965" y="3842921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195897" y="399971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923510" y="3986511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105101" y="3893654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17374" y="455458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711238" y="5026018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17374" y="460183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923510" y="3761239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4711238" y="388559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923510" y="394269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4711238" y="504341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195897" y="4328810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4105101" y="445123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529647" y="3652931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6529647" y="465953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529647" y="451892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105101" y="3916497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195897" y="4845690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105101" y="398678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105101" y="442270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498965" y="4664875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7135783" y="3697173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4105101" y="3972069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105101" y="3597742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711238" y="5106578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317374" y="414410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195897" y="4474896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695998" y="2709422"/>
            <a:ext cx="91440" cy="91440"/>
          </a:xfrm>
          <a:prstGeom prst="ellipse">
            <a:avLst/>
          </a:prstGeom>
          <a:solidFill>
            <a:srgbClr val="D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810298" y="2587502"/>
            <a:ext cx="655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E683E"/>
                </a:solidFill>
                <a:latin typeface="Arial"/>
              </a:rPr>
              <a:t>T121</a:t>
            </a:r>
          </a:p>
        </p:txBody>
      </p:sp>
      <p:sp>
        <p:nvSpPr>
          <p:cNvPr id="145" name="Oval 144"/>
          <p:cNvSpPr/>
          <p:nvPr/>
        </p:nvSpPr>
        <p:spPr>
          <a:xfrm>
            <a:off x="3483725" y="4337720"/>
            <a:ext cx="91440" cy="91440"/>
          </a:xfrm>
          <a:prstGeom prst="ellipse">
            <a:avLst/>
          </a:prstGeom>
          <a:solidFill>
            <a:srgbClr val="D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598025" y="4215800"/>
            <a:ext cx="655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E683E"/>
                </a:solidFill>
                <a:latin typeface="Arial"/>
              </a:rPr>
              <a:t>T122</a:t>
            </a:r>
          </a:p>
        </p:txBody>
      </p:sp>
      <p:sp>
        <p:nvSpPr>
          <p:cNvPr id="147" name="Oval 146"/>
          <p:cNvSpPr/>
          <p:nvPr/>
        </p:nvSpPr>
        <p:spPr>
          <a:xfrm>
            <a:off x="5302134" y="4118499"/>
            <a:ext cx="91440" cy="91440"/>
          </a:xfrm>
          <a:prstGeom prst="ellipse">
            <a:avLst/>
          </a:prstGeom>
          <a:solidFill>
            <a:srgbClr val="D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416434" y="3996579"/>
            <a:ext cx="655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E683E"/>
                </a:solidFill>
                <a:latin typeface="Arial"/>
              </a:rPr>
              <a:t>T123</a:t>
            </a:r>
          </a:p>
        </p:txBody>
      </p:sp>
      <p:sp>
        <p:nvSpPr>
          <p:cNvPr id="149" name="Oval 148"/>
          <p:cNvSpPr/>
          <p:nvPr/>
        </p:nvSpPr>
        <p:spPr>
          <a:xfrm>
            <a:off x="1362248" y="3560912"/>
            <a:ext cx="91440" cy="91440"/>
          </a:xfrm>
          <a:prstGeom prst="ellipse">
            <a:avLst/>
          </a:prstGeom>
          <a:solidFill>
            <a:srgbClr val="D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476548" y="3438992"/>
            <a:ext cx="655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E683E"/>
                </a:solidFill>
                <a:latin typeface="Arial"/>
              </a:rPr>
              <a:t>T124</a:t>
            </a:r>
          </a:p>
        </p:txBody>
      </p:sp>
      <p:sp>
        <p:nvSpPr>
          <p:cNvPr id="151" name="Oval 150"/>
          <p:cNvSpPr/>
          <p:nvPr/>
        </p:nvSpPr>
        <p:spPr>
          <a:xfrm>
            <a:off x="4105101" y="4947889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377488" y="4377490"/>
            <a:ext cx="60960" cy="6096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104900" y="2194560"/>
            <a:ext cx="64008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7078"/>
                </a:solidFill>
                <a:latin typeface="Arial"/>
              </a:rPr>
              <a:t>VALOR PAGO (R$) · ESCALA LOGARÍTMICA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073140" y="5699760"/>
            <a:ext cx="1752600" cy="21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56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597078"/>
                </a:solidFill>
                <a:latin typeface="Arial"/>
              </a:rPr>
              <a:t>HORA DA TRANSAÇÃO</a:t>
            </a:r>
          </a:p>
        </p:txBody>
      </p:sp>
      <p:sp>
        <p:nvSpPr>
          <p:cNvPr id="155" name="Oval 154"/>
          <p:cNvSpPr/>
          <p:nvPr/>
        </p:nvSpPr>
        <p:spPr>
          <a:xfrm>
            <a:off x="1188720" y="5897880"/>
            <a:ext cx="91440" cy="91440"/>
          </a:xfrm>
          <a:prstGeom prst="ellipse">
            <a:avLst/>
          </a:prstGeom>
          <a:solidFill>
            <a:srgbClr val="569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363980" y="5829300"/>
            <a:ext cx="1996439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7078"/>
                </a:solidFill>
                <a:latin typeface="Arial"/>
              </a:rPr>
              <a:t>Não sinalizada</a:t>
            </a:r>
          </a:p>
        </p:txBody>
      </p:sp>
      <p:sp>
        <p:nvSpPr>
          <p:cNvPr id="157" name="Oval 156"/>
          <p:cNvSpPr/>
          <p:nvPr/>
        </p:nvSpPr>
        <p:spPr>
          <a:xfrm>
            <a:off x="3459480" y="5897880"/>
            <a:ext cx="91440" cy="91440"/>
          </a:xfrm>
          <a:prstGeom prst="ellipse">
            <a:avLst/>
          </a:prstGeom>
          <a:solidFill>
            <a:srgbClr val="DE6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634740" y="5829300"/>
            <a:ext cx="296418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597078"/>
                </a:solidFill>
                <a:latin typeface="Arial"/>
              </a:rPr>
              <a:t>Candidata a anomalia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305800" y="2118360"/>
            <a:ext cx="3215640" cy="1714500"/>
          </a:xfrm>
          <a:prstGeom prst="roundRect">
            <a:avLst>
              <a:gd name="adj" fmla="val 8000"/>
            </a:avLst>
          </a:prstGeom>
          <a:solidFill>
            <a:srgbClr val="11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511540" y="2324100"/>
            <a:ext cx="277368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35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7DDBB1"/>
                </a:solidFill>
                <a:latin typeface="Arial"/>
              </a:rPr>
              <a:t>7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511540" y="3101340"/>
            <a:ext cx="2773680" cy="579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F5F4EF"/>
                </a:solidFill>
                <a:latin typeface="Arial"/>
              </a:rPr>
              <a:t>compras sinalizadas</a:t>
            </a:r>
          </a:p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F5F4EF"/>
                </a:solidFill>
                <a:latin typeface="Arial"/>
              </a:rPr>
              <a:t>para investigação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305800" y="4000500"/>
            <a:ext cx="3215640" cy="17526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511540" y="4213860"/>
            <a:ext cx="2773680" cy="449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13"/>
              </a:lnSpc>
              <a:spcBef>
                <a:spcPts val="0"/>
              </a:spcBef>
              <a:spcAft>
                <a:spcPts val="0"/>
              </a:spcAft>
            </a:pPr>
            <a:r>
              <a:rPr sz="1859" b="1">
                <a:solidFill>
                  <a:srgbClr val="DE683E"/>
                </a:solidFill>
                <a:latin typeface="Arial"/>
              </a:rPr>
              <a:t>3 falsos positivos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511540" y="4716780"/>
            <a:ext cx="2750820" cy="929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112B37"/>
                </a:solidFill>
                <a:latin typeface="Arial"/>
              </a:rPr>
              <a:t>Precisão: 57,1%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112B37"/>
                </a:solidFill>
                <a:latin typeface="Arial"/>
              </a:rPr>
              <a:t>Recall: 80,0%</a:t>
            </a:r>
          </a:p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0">
                <a:solidFill>
                  <a:srgbClr val="112B37"/>
                </a:solidFill>
                <a:latin typeface="Arial"/>
              </a:rPr>
              <a:t>1 anomalia não detectada</a:t>
            </a:r>
          </a:p>
        </p:txBody>
      </p:sp>
      <p:cxnSp>
        <p:nvCxnSpPr>
          <p:cNvPr id="165" name="Connector 164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16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467100" y="6530340"/>
            <a:ext cx="7391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078"/>
                </a:solidFill>
                <a:latin typeface="Arial"/>
              </a:rPr>
              <a:t>Base sintética · métricas nos mesmos registros do ajuste.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LIMIAR DE DECISÃO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Mais alertas não garantem mais acertos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1100" y="2194560"/>
            <a:ext cx="2514600" cy="251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97078"/>
                </a:solidFill>
                <a:latin typeface="Arial"/>
              </a:rPr>
              <a:t>FREQUÊNCIA DE TRANSAÇÕES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1100" y="2636520"/>
            <a:ext cx="2875684" cy="2286000"/>
          </a:xfrm>
          <a:prstGeom prst="rect">
            <a:avLst/>
          </a:prstGeom>
          <a:solidFill>
            <a:srgbClr val="F8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3960" y="4843692"/>
            <a:ext cx="286596" cy="78827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36276" y="4843692"/>
            <a:ext cx="286596" cy="78827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68593" y="4922520"/>
            <a:ext cx="286596" cy="0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00910" y="4922520"/>
            <a:ext cx="286596" cy="0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33226" y="4922520"/>
            <a:ext cx="286596" cy="0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65543" y="4843692"/>
            <a:ext cx="286596" cy="78827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97860" y="4922520"/>
            <a:ext cx="286596" cy="0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0176" y="4686037"/>
            <a:ext cx="286596" cy="236482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62493" y="4843692"/>
            <a:ext cx="286596" cy="78827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4810" y="4528382"/>
            <a:ext cx="286596" cy="394137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7126" y="4213071"/>
            <a:ext cx="286596" cy="709448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59443" y="4134244"/>
            <a:ext cx="286596" cy="788275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91760" y="4449554"/>
            <a:ext cx="286596" cy="472965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24076" y="3503623"/>
            <a:ext cx="286596" cy="1418896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6393" y="3030657"/>
            <a:ext cx="286596" cy="1891862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8710" y="2636520"/>
            <a:ext cx="286596" cy="2286000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21026" y="3818933"/>
            <a:ext cx="286596" cy="1103586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3343" y="4607209"/>
            <a:ext cx="286596" cy="315310"/>
          </a:xfrm>
          <a:prstGeom prst="rect">
            <a:avLst/>
          </a:prstGeom>
          <a:solidFill>
            <a:srgbClr val="006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056784" y="2499360"/>
            <a:ext cx="0" cy="2423160"/>
          </a:xfrm>
          <a:prstGeom prst="line">
            <a:avLst/>
          </a:prstGeom>
          <a:ln w="22859">
            <a:solidFill>
              <a:srgbClr val="DE68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51984" y="2171700"/>
            <a:ext cx="1333500" cy="2819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E683E"/>
                </a:solidFill>
                <a:latin typeface="Arial"/>
              </a:rPr>
              <a:t>LIMIAR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1100" y="5120640"/>
            <a:ext cx="62484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84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97078"/>
                </a:solidFill>
                <a:latin typeface="Arial"/>
              </a:rPr>
              <a:t>decision_function · menor = mais incomum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040" y="5661660"/>
            <a:ext cx="72390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À esquerda do zero: candidatas a anomalia.</a:t>
            </a:r>
          </a:p>
          <a:p>
            <a:pPr>
              <a:lnSpc>
                <a:spcPts val="1856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597078"/>
                </a:solidFill>
                <a:latin typeface="Arial"/>
              </a:rPr>
              <a:t>A fração define o corte; não é probabilidade de fraude.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2148840"/>
            <a:ext cx="3749039" cy="355854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3380" y="2331720"/>
            <a:ext cx="3261360" cy="426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112B37"/>
                </a:solidFill>
                <a:latin typeface="Arial"/>
              </a:rPr>
              <a:t>Sensibilidade do limiar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8620" y="2956560"/>
            <a:ext cx="10134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Fração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7820" y="2956560"/>
            <a:ext cx="10134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Alertas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30840" y="2956560"/>
            <a:ext cx="101346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Acertos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8620" y="3368040"/>
            <a:ext cx="96774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2B37"/>
                </a:solidFill>
                <a:latin typeface="Arial"/>
              </a:rPr>
              <a:t>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27820" y="3368040"/>
            <a:ext cx="96774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2B37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30840" y="3368040"/>
            <a:ext cx="96774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2B37"/>
                </a:solidFill>
                <a:latin typeface="Arial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3810000"/>
            <a:ext cx="3474720" cy="434340"/>
          </a:xfrm>
          <a:prstGeom prst="roundRect">
            <a:avLst>
              <a:gd name="adj" fmla="val 14035"/>
            </a:avLst>
          </a:prstGeom>
          <a:solidFill>
            <a:srgbClr val="DF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8620" y="3870960"/>
            <a:ext cx="96774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7820" y="3870960"/>
            <a:ext cx="96774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30840" y="3870960"/>
            <a:ext cx="96774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006D68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8620" y="4373880"/>
            <a:ext cx="96774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2B37"/>
                </a:solidFill>
                <a:latin typeface="Arial"/>
              </a:rPr>
              <a:t>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7820" y="4373880"/>
            <a:ext cx="96774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2B37"/>
                </a:solidFill>
                <a:latin typeface="Arial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0840" y="4373880"/>
            <a:ext cx="96774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2B37"/>
                </a:solidFill>
                <a:latin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8620" y="4876800"/>
            <a:ext cx="96774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2B37"/>
                </a:solidFill>
                <a:latin typeface="Arial"/>
              </a:rPr>
              <a:t>10%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7820" y="4876800"/>
            <a:ext cx="96774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2B37"/>
                </a:solidFill>
                <a:latin typeface="Arial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30840" y="4876800"/>
            <a:ext cx="967740" cy="3276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739" b="1">
                <a:solidFill>
                  <a:srgbClr val="112B37"/>
                </a:solidFill>
                <a:latin typeface="Arial"/>
              </a:rPr>
              <a:t>4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67100" y="6530340"/>
            <a:ext cx="7391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71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7078"/>
                </a:solidFill>
                <a:latin typeface="Arial"/>
              </a:rPr>
              <a:t>Mesmos scores; diferentes limiares percentuais.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INTERPRETAÇÃO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O modelo encontra padrões, não intenções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0560" y="2019300"/>
            <a:ext cx="3489960" cy="323088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1060" y="2202180"/>
            <a:ext cx="3048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98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006D68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060" y="2926080"/>
            <a:ext cx="309372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006D68"/>
                </a:solidFill>
                <a:latin typeface="Arial"/>
              </a:rPr>
              <a:t>ENCONTRADAS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060" y="3444240"/>
            <a:ext cx="3093720" cy="1592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T121 · valor de R$ 8.000</a:t>
            </a:r>
          </a:p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T122 · quantidade de 45 itens</a:t>
            </a:r>
          </a:p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T123 · desconto de 95%</a:t>
            </a:r>
          </a:p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T124 · preço incompatível com a</a:t>
            </a:r>
          </a:p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categoria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1020" y="2019300"/>
            <a:ext cx="3489960" cy="323088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1520" y="2202180"/>
            <a:ext cx="3048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98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DE683E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1520" y="2926080"/>
            <a:ext cx="309372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DE683E"/>
                </a:solidFill>
                <a:latin typeface="Arial"/>
              </a:rPr>
              <a:t>SEM ALERTA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520" y="3444240"/>
            <a:ext cx="3093720" cy="1592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T125 · eletrônicos baratos</a:t>
            </a:r>
          </a:p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demais</a:t>
            </a:r>
          </a:p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T126 · indevida sem desvio</a:t>
            </a:r>
          </a:p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observável (fora do recall)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1480" y="2019300"/>
            <a:ext cx="3489960" cy="3230880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1980" y="2202180"/>
            <a:ext cx="3048000" cy="655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998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597078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1980" y="2926080"/>
            <a:ext cx="3093720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260" b="1">
                <a:solidFill>
                  <a:srgbClr val="597078"/>
                </a:solidFill>
                <a:latin typeface="Arial"/>
              </a:rPr>
              <a:t>FALSOS POSITIVOS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1980" y="3444240"/>
            <a:ext cx="3093720" cy="15925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T049 · T058 · T088</a:t>
            </a:r>
          </a:p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Compras legítimas em PT, com</a:t>
            </a:r>
          </a:p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combinações relativamente</a:t>
            </a:r>
          </a:p>
          <a:p>
            <a:pPr>
              <a:lnSpc>
                <a:spcPts val="1992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597078"/>
                </a:solidFill>
                <a:latin typeface="Arial"/>
              </a:rPr>
              <a:t>raras.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60" y="5501640"/>
            <a:ext cx="10850880" cy="647700"/>
          </a:xfrm>
          <a:prstGeom prst="roundRect">
            <a:avLst>
              <a:gd name="adj" fmla="val 18823"/>
            </a:avLst>
          </a:prstGeom>
          <a:solidFill>
            <a:srgbClr val="11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" y="5669280"/>
            <a:ext cx="104013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99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F5F4EF"/>
                </a:solidFill>
                <a:latin typeface="Arial"/>
              </a:rPr>
              <a:t>Investigar produto, promoção e contexto antes de bloquear uma compra ou remover um registro.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358140"/>
            <a:ext cx="10439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6D68"/>
                </a:solidFill>
                <a:latin typeface="Arial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784860"/>
            <a:ext cx="10820400" cy="63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06"/>
              </a:lnSpc>
              <a:spcBef>
                <a:spcPts val="0"/>
              </a:spcBef>
              <a:spcAft>
                <a:spcPts val="0"/>
              </a:spcAft>
            </a:pPr>
            <a:r>
              <a:rPr sz="3719" b="1">
                <a:solidFill>
                  <a:srgbClr val="112B37"/>
                </a:solidFill>
                <a:latin typeface="Arial"/>
              </a:rPr>
              <a:t>Fontes que sustentam o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2034540"/>
            <a:ext cx="56388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6D68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2560" y="2034540"/>
            <a:ext cx="4434840" cy="601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2B37"/>
                </a:solidFill>
                <a:latin typeface="Arial"/>
                <a:hlinkClick r:id="rId2"/>
              </a:rPr>
              <a:t>Isolation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2560" y="2689860"/>
            <a:ext cx="443484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97078"/>
                </a:solidFill>
                <a:latin typeface="Arial"/>
              </a:rPr>
              <a:t>Liu, Ting e Zhou · ICDM, 2008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32560" y="3116580"/>
            <a:ext cx="443484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0300" y="2034540"/>
            <a:ext cx="56388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6D68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2300" y="2034540"/>
            <a:ext cx="4434840" cy="601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2B37"/>
                </a:solidFill>
                <a:latin typeface="Arial"/>
                <a:hlinkClick r:id="rId3"/>
              </a:rPr>
              <a:t>Isolation-Based 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2300" y="2689860"/>
            <a:ext cx="443484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97078"/>
                </a:solidFill>
                <a:latin typeface="Arial"/>
              </a:rPr>
              <a:t>Liu, Ting e Zhou · ACM TKDD, 2012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72300" y="3116580"/>
            <a:ext cx="443484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70560" y="3291840"/>
            <a:ext cx="56388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6D68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2560" y="3291840"/>
            <a:ext cx="4434840" cy="601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2B37"/>
                </a:solidFill>
                <a:latin typeface="Arial"/>
                <a:hlinkClick r:id="rId4"/>
              </a:rPr>
              <a:t>IsolationForest: API oficial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2560" y="3947160"/>
            <a:ext cx="443484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97078"/>
                </a:solidFill>
                <a:latin typeface="Arial"/>
              </a:rPr>
              <a:t>scikit-learn · parâmetros, scores e implementação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32560" y="4373880"/>
            <a:ext cx="443484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0300" y="3291840"/>
            <a:ext cx="56388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6D68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2300" y="3291840"/>
            <a:ext cx="4434840" cy="601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2B37"/>
                </a:solidFill>
                <a:latin typeface="Arial"/>
                <a:hlinkClick r:id="rId5"/>
              </a:rPr>
              <a:t>CERN OpenStack: estudo de caso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2300" y="3947160"/>
            <a:ext cx="443484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97078"/>
                </a:solidFill>
                <a:latin typeface="Arial"/>
              </a:rPr>
              <a:t>Stiven Metaj · CERN-THESIS-2022-049, 2022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72300" y="4373880"/>
            <a:ext cx="443484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0560" y="4549140"/>
            <a:ext cx="56388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6D68"/>
                </a:solidFill>
                <a:latin typeface="Arial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2560" y="4549140"/>
            <a:ext cx="4434840" cy="601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2B37"/>
                </a:solidFill>
                <a:latin typeface="Arial"/>
                <a:hlinkClick r:id="rId6"/>
              </a:rPr>
              <a:t>Extended Isolation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2560" y="5204460"/>
            <a:ext cx="443484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97078"/>
                </a:solidFill>
                <a:latin typeface="Arial"/>
              </a:rPr>
              <a:t>Hariri, Kind e Brunner · arXiv:1811.02141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0300" y="4549140"/>
            <a:ext cx="56388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4"/>
              </a:lnSpc>
              <a:spcBef>
                <a:spcPts val="0"/>
              </a:spcBef>
              <a:spcAft>
                <a:spcPts val="0"/>
              </a:spcAft>
            </a:pPr>
            <a:r>
              <a:rPr sz="1920" b="1">
                <a:solidFill>
                  <a:srgbClr val="006D68"/>
                </a:solidFill>
                <a:latin typeface="Arial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2300" y="4549140"/>
            <a:ext cx="4434840" cy="6019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42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2B37"/>
                </a:solidFill>
                <a:latin typeface="Arial"/>
                <a:hlinkClick r:id="rId7"/>
              </a:rPr>
              <a:t>Deep Isolation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2300" y="5204460"/>
            <a:ext cx="4434840" cy="4952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42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rgbClr val="597078"/>
                </a:solidFill>
                <a:latin typeface="Arial"/>
              </a:rPr>
              <a:t>Xu et al. · arXiv:2206.06602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560" y="6027420"/>
            <a:ext cx="10058400" cy="243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97078"/>
                </a:solidFill>
                <a:latin typeface="Arial"/>
              </a:rPr>
              <a:t>Os títulos são links clicáveis. URLs completas também estão nas notas do slide e no README.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D8E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597078"/>
                </a:solidFill>
                <a:latin typeface="Arial"/>
              </a:rPr>
              <a:t>GRUPO 4  /  ISOLATION FOREST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59707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0560" y="510540"/>
            <a:ext cx="9906000" cy="297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7DDBB1"/>
                </a:solidFill>
                <a:latin typeface="Arial"/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" y="1546860"/>
            <a:ext cx="10652760" cy="1813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8"/>
              </a:lnSpc>
              <a:spcBef>
                <a:spcPts val="0"/>
              </a:spcBef>
              <a:spcAft>
                <a:spcPts val="0"/>
              </a:spcAft>
            </a:pPr>
            <a:r>
              <a:rPr sz="4680" b="1">
                <a:solidFill>
                  <a:srgbClr val="F5F4EF"/>
                </a:solidFill>
                <a:latin typeface="Arial"/>
              </a:rPr>
              <a:t>Encontrar o incomum</a:t>
            </a:r>
          </a:p>
          <a:p>
            <a:pPr>
              <a:lnSpc>
                <a:spcPts val="5148"/>
              </a:lnSpc>
              <a:spcBef>
                <a:spcPts val="0"/>
              </a:spcBef>
              <a:spcAft>
                <a:spcPts val="0"/>
              </a:spcAft>
            </a:pPr>
            <a:r>
              <a:rPr sz="4680" b="1">
                <a:solidFill>
                  <a:srgbClr val="F5F4EF"/>
                </a:solidFill>
                <a:latin typeface="Arial"/>
              </a:rPr>
              <a:t>é o início da investigação.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70560" y="3855720"/>
            <a:ext cx="3276600" cy="0"/>
          </a:xfrm>
          <a:prstGeom prst="line">
            <a:avLst/>
          </a:prstGeom>
          <a:ln w="15240">
            <a:solidFill>
              <a:srgbClr val="31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70560" y="4084320"/>
            <a:ext cx="3276600" cy="678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41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7DDBB1"/>
                </a:solidFill>
                <a:latin typeface="Arial"/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" y="4892040"/>
            <a:ext cx="3291840" cy="236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7BCBE"/>
                </a:solidFill>
                <a:latin typeface="Arial"/>
              </a:rPr>
              <a:t>TRANSAÇÕES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51020" y="3855720"/>
            <a:ext cx="3276600" cy="0"/>
          </a:xfrm>
          <a:prstGeom prst="line">
            <a:avLst/>
          </a:prstGeom>
          <a:ln w="15240">
            <a:solidFill>
              <a:srgbClr val="31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51020" y="4084320"/>
            <a:ext cx="3276600" cy="678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41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7DDBB1"/>
                </a:solidFill>
                <a:latin typeface="Arial"/>
              </a:rPr>
              <a:t>4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1020" y="4892040"/>
            <a:ext cx="3291840" cy="236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7BCBE"/>
                </a:solidFill>
                <a:latin typeface="Arial"/>
              </a:rPr>
              <a:t>ANOMALIAS ENCONTRADAS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31480" y="3855720"/>
            <a:ext cx="3276600" cy="0"/>
          </a:xfrm>
          <a:prstGeom prst="line">
            <a:avLst/>
          </a:prstGeom>
          <a:ln w="15240">
            <a:solidFill>
              <a:srgbClr val="31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31480" y="4084320"/>
            <a:ext cx="3276600" cy="6781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41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7DDBB1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1480" y="4892040"/>
            <a:ext cx="3291840" cy="2362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27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7BCBE"/>
                </a:solidFill>
                <a:latin typeface="Arial"/>
              </a:rPr>
              <a:t>FALSOS POSITIVOS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" y="5486400"/>
            <a:ext cx="10668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0"/>
              </a:lnSpc>
              <a:spcBef>
                <a:spcPts val="0"/>
              </a:spcBef>
              <a:spcAft>
                <a:spcPts val="0"/>
              </a:spcAft>
            </a:pPr>
            <a:r>
              <a:rPr sz="2160" b="0">
                <a:solidFill>
                  <a:srgbClr val="F5F4EF"/>
                </a:solidFill>
                <a:latin typeface="Arial"/>
              </a:rPr>
              <a:t>Preparar os dados. Calibrar o limiar. Entender o contexto.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0560" y="6393180"/>
            <a:ext cx="10850880" cy="0"/>
          </a:xfrm>
          <a:prstGeom prst="line">
            <a:avLst/>
          </a:prstGeom>
          <a:ln w="7620">
            <a:solidFill>
              <a:srgbClr val="315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0560" y="6530340"/>
            <a:ext cx="2514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42"/>
              </a:lnSpc>
              <a:spcBef>
                <a:spcPts val="0"/>
              </a:spcBef>
              <a:spcAft>
                <a:spcPts val="0"/>
              </a:spcAft>
            </a:pPr>
            <a:r>
              <a:rPr sz="960" b="0">
                <a:solidFill>
                  <a:srgbClr val="A7BCBE"/>
                </a:solidFill>
                <a:latin typeface="Arial"/>
              </a:rPr>
              <a:t>GRUPO 4  /  OBRIGADO · PERGUNTAS?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25200" y="6477000"/>
            <a:ext cx="39624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A7BCBE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